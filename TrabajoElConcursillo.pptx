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80"/>
    <a:srgbClr val="171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86" autoAdjust="0"/>
    <p:restoredTop sz="94660"/>
  </p:normalViewPr>
  <p:slideViewPr>
    <p:cSldViewPr snapToGrid="0">
      <p:cViewPr>
        <p:scale>
          <a:sx n="66" d="100"/>
          <a:sy n="66" d="100"/>
        </p:scale>
        <p:origin x="31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rgbClr val="171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9E659B-62BC-8898-4929-5575CD3A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56C6A-62B5-EF08-2F41-1E33806C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EA02BE-E013-2016-CD64-9D1E79DA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283325"/>
            <a:ext cx="2743200" cy="365125"/>
          </a:xfrm>
        </p:spPr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988AAF8-9407-9EEE-9355-BF1F0B0E1DA7}"/>
              </a:ext>
            </a:extLst>
          </p:cNvPr>
          <p:cNvSpPr/>
          <p:nvPr userDrawn="1"/>
        </p:nvSpPr>
        <p:spPr>
          <a:xfrm>
            <a:off x="0" y="-66674"/>
            <a:ext cx="12258675" cy="203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4A43DB3-77E7-578E-FBE6-9EE54EA9315E}"/>
              </a:ext>
            </a:extLst>
          </p:cNvPr>
          <p:cNvSpPr/>
          <p:nvPr userDrawn="1"/>
        </p:nvSpPr>
        <p:spPr>
          <a:xfrm>
            <a:off x="-66675" y="6657975"/>
            <a:ext cx="12258675" cy="203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5790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B40C1-28B9-C876-3446-94B449BB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376CB-1A49-14EC-A8D3-88A478DF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491065-0978-E8B2-C50F-B56B3390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09B139-05FA-0B58-FE54-E769BEED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5ED239-D722-0C79-0E23-8080F3EA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614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3780E-1913-1E69-B1D7-487E3B3EF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123201-AFF3-4BFC-FC71-478481E3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65264D-42A1-0DC2-8609-CC99882F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FFE8A-65A4-5B18-E5B1-D0D49047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703E52-6798-43F3-3176-709CEE96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78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30A6C-64CD-53E2-0697-9915D364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AA4880-D302-0A5D-8E2A-2127796B7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5D31A5-6C05-BD36-C017-06E29AC6A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E2F707-878A-9302-9D6A-6EA7BE04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9D1F65-5C01-3FC1-A35E-A1F1493F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AD3E42-C592-794B-550A-2B98AE6F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783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B840B-5667-47DD-AB47-FD4E7AC4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2076EB-A24A-3DBD-CD15-FEDC247DE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E4F0DA-AF54-31A1-8952-C574916C6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E5AA34-2D39-3343-223C-5A46F720C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8137FA8-DA0D-3AAE-BB04-BF047B9F0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E231D9-0620-61F3-5E7D-03025CB7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DFA008-211F-C9AD-55C1-5F5FA59B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A573544-83E7-109E-61A5-258A9246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1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19111-AEEC-A715-7E71-A9A176AE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3F6488-F9EA-A751-79AD-D0952056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12C593-FB98-63F8-51D6-22DFEB59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092B08-4231-DDDB-A2F5-3053B489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765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47EA0C-E0C1-75A5-5599-895B03A5B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F217FD-4D9E-C143-331E-6DDF36A2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7B76E2-7A4E-41E3-7D93-6FB0DE10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561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2D72F-42FD-042B-86F0-B239BD7C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88C67-625B-2A0B-D04E-DA9282908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632AA6-D625-08DB-43A2-F8A44C0CA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3A5A27-D36F-141D-C7DE-1C03185D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F8BFC1-8524-96FD-FCC7-043389A6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212AF9-3C14-6A4B-849D-1C2AFCA3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519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8198A-8A0D-0ACD-E065-4E72C42F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7A25B2-06AF-2921-1D16-C8324BDBF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9438D9-0562-97BA-FB11-0B7070A1C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50C121-E99E-949F-D97F-EBB7EF86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04DA0D-8941-C0A8-F2AE-93263F91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32BC3A-0DA0-DFC9-7491-CEE56C3E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97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781FE-73ED-EFC0-BAF9-F30FC208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EE7D1E-A2A1-0A3F-44F3-0B978BA3C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7C15A9-A680-C715-3538-40FF0459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8BEED2-5F9B-7A6C-BB73-27169B70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DE35DF-D4FE-E1E9-0A2E-63D24EAD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134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109975-801A-70CF-A517-0C677C541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7F0711-40C6-9D1F-52DB-DF52703A3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28CBF-5244-3913-D08F-511A3CF0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1F46BA-2812-A7D4-114E-4B288B64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9FE1CB-CA4D-97E2-3EFA-939F1069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447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A6FDE1-DE24-6243-1EA8-B7A2A1737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0DE1E0-6E15-603A-BF7A-DDD56CD73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B5016C-C403-EDEB-A6E6-75B6F8801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98D4B-01B5-4461-8E66-3341F95C3E3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7E2F54-60EF-A9C4-1AE0-76F80F748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AC4177-D8A7-6474-D2DB-ADE7C917A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23D89-AA67-4DFA-83DA-F1044B0AAA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502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5.wdp"/><Relationship Id="rId3" Type="http://schemas.microsoft.com/office/2007/relationships/hdphoto" Target="../media/hdphoto2.wdp"/><Relationship Id="rId7" Type="http://schemas.microsoft.com/office/2007/relationships/hdphoto" Target="../media/hdphoto3.wdp"/><Relationship Id="rId12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microsoft.com/office/2007/relationships/hdphoto" Target="../media/hdphoto4.wdp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jpe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0381BCD-45B8-7767-0FA6-A575FB9703C2}"/>
              </a:ext>
            </a:extLst>
          </p:cNvPr>
          <p:cNvSpPr/>
          <p:nvPr/>
        </p:nvSpPr>
        <p:spPr>
          <a:xfrm>
            <a:off x="3053597" y="919460"/>
            <a:ext cx="60848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CONCURSILLO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343276E-DE58-0BD2-27AD-6ABA7E156835}"/>
              </a:ext>
            </a:extLst>
          </p:cNvPr>
          <p:cNvSpPr/>
          <p:nvPr/>
        </p:nvSpPr>
        <p:spPr>
          <a:xfrm>
            <a:off x="4426152" y="1938635"/>
            <a:ext cx="333969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i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¿Quién quiere ser millonario?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88F4045-7667-4EFF-8488-AD1D49BBF79C}"/>
              </a:ext>
            </a:extLst>
          </p:cNvPr>
          <p:cNvCxnSpPr/>
          <p:nvPr/>
        </p:nvCxnSpPr>
        <p:spPr>
          <a:xfrm>
            <a:off x="4552950" y="2338745"/>
            <a:ext cx="310515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AAE044F4-E9F7-42E7-C5E5-21C092BED456}"/>
              </a:ext>
            </a:extLst>
          </p:cNvPr>
          <p:cNvSpPr/>
          <p:nvPr/>
        </p:nvSpPr>
        <p:spPr>
          <a:xfrm>
            <a:off x="4289194" y="2636104"/>
            <a:ext cx="3632661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Proyecto Intermodular 1 DAM/DAW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B033CF-2808-30D6-3314-9B1BFC5F962B}"/>
              </a:ext>
            </a:extLst>
          </p:cNvPr>
          <p:cNvSpPr/>
          <p:nvPr/>
        </p:nvSpPr>
        <p:spPr>
          <a:xfrm>
            <a:off x="-76201" y="3614084"/>
            <a:ext cx="124587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1" i="1" u="sng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Creadores del proyecto:</a:t>
            </a:r>
            <a:r>
              <a:rPr lang="es-ES" sz="2000" b="1" dirty="0">
                <a:ln w="0"/>
                <a:solidFill>
                  <a:srgbClr val="FFC000"/>
                </a:solidFill>
              </a:rPr>
              <a:t> </a:t>
            </a:r>
            <a:r>
              <a:rPr lang="es-ES" sz="2000" b="1" dirty="0">
                <a:ln w="0"/>
                <a:solidFill>
                  <a:schemeClr val="bg1"/>
                </a:solidFill>
              </a:rPr>
              <a:t>Jorge Jiménez García, Julián Sánchez de Pablo, Daniel Martínez Alcaide</a:t>
            </a:r>
            <a:endParaRPr lang="es-ES" sz="2000" b="1" i="1" u="sng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76463ED-CE2B-4F29-3B3D-5C8397EBE7CF}"/>
              </a:ext>
            </a:extLst>
          </p:cNvPr>
          <p:cNvSpPr/>
          <p:nvPr/>
        </p:nvSpPr>
        <p:spPr>
          <a:xfrm>
            <a:off x="-1479349" y="4191954"/>
            <a:ext cx="124587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1" i="1" u="sng" dirty="0" err="1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Asingnaturas</a:t>
            </a:r>
            <a:r>
              <a:rPr lang="es-ES" sz="2000" b="1" i="1" u="sng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es-ES" sz="2000" b="1" dirty="0">
                <a:ln w="0"/>
                <a:solidFill>
                  <a:srgbClr val="FFC000"/>
                </a:solidFill>
              </a:rPr>
              <a:t> </a:t>
            </a:r>
            <a:r>
              <a:rPr lang="es-ES" sz="2000" b="1" dirty="0">
                <a:ln w="0"/>
                <a:solidFill>
                  <a:schemeClr val="bg1"/>
                </a:solidFill>
              </a:rPr>
              <a:t>Programación, Base de Datos, Entornos de Desarrollo</a:t>
            </a:r>
            <a:endParaRPr lang="es-ES" sz="2000" b="1" i="1" u="sng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529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76EAA62-6E01-D8E2-7A04-CF84F6A449A9}"/>
              </a:ext>
            </a:extLst>
          </p:cNvPr>
          <p:cNvSpPr/>
          <p:nvPr/>
        </p:nvSpPr>
        <p:spPr>
          <a:xfrm>
            <a:off x="207738" y="462260"/>
            <a:ext cx="508998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es el Concursillo?</a:t>
            </a:r>
            <a:endParaRPr lang="es-ES" sz="40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3722E61-4253-C598-7B7E-F4D7E43812FD}"/>
              </a:ext>
            </a:extLst>
          </p:cNvPr>
          <p:cNvSpPr txBox="1"/>
          <p:nvPr/>
        </p:nvSpPr>
        <p:spPr>
          <a:xfrm>
            <a:off x="428625" y="1485900"/>
            <a:ext cx="6438900" cy="313932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Es una aplicación hecha a partir de Java que está inspirada en el concurso de televisión  ‘¿Quién Quiere ser Millonario?’ y también en el concurso retrasmitido por streaming del streamer IlloJuan.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Lo hemos adaptado a un formato simple de 15 preguntas de dificultad ascendiente. Con cada acierto se acumula mas premio.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b="1" dirty="0">
                <a:solidFill>
                  <a:srgbClr val="FF0000"/>
                </a:solidFill>
              </a:rPr>
              <a:t>Si fallas, pierdes todo</a:t>
            </a:r>
          </a:p>
          <a:p>
            <a:r>
              <a:rPr lang="es-ES" dirty="0">
                <a:solidFill>
                  <a:schemeClr val="bg1"/>
                </a:solidFill>
              </a:rPr>
              <a:t>Salvo los premios que están garantizados en las preguntas 5 y 10.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b="1" dirty="0">
                <a:solidFill>
                  <a:srgbClr val="FFFF00"/>
                </a:solidFill>
              </a:rPr>
              <a:t>Puedes plantarte </a:t>
            </a:r>
            <a:r>
              <a:rPr lang="es-ES" dirty="0">
                <a:solidFill>
                  <a:schemeClr val="bg1"/>
                </a:solidFill>
              </a:rPr>
              <a:t>y llevarte todo lo acumulado.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02BD509-57DE-7A89-999C-C10FA0CB4B3A}"/>
              </a:ext>
            </a:extLst>
          </p:cNvPr>
          <p:cNvSpPr/>
          <p:nvPr/>
        </p:nvSpPr>
        <p:spPr>
          <a:xfrm>
            <a:off x="7962900" y="1485900"/>
            <a:ext cx="3295650" cy="914400"/>
          </a:xfrm>
          <a:prstGeom prst="roundRect">
            <a:avLst/>
          </a:prstGeom>
          <a:ln w="57150"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solidFill>
                  <a:srgbClr val="FFFF00"/>
                </a:solidFill>
              </a:rPr>
              <a:t>FORMATO</a:t>
            </a:r>
          </a:p>
          <a:p>
            <a:r>
              <a:rPr lang="es-ES" b="1" dirty="0"/>
              <a:t>15 preguntas, 4 opciones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ABB0EC0-11E9-C685-E085-390423A69259}"/>
              </a:ext>
            </a:extLst>
          </p:cNvPr>
          <p:cNvSpPr/>
          <p:nvPr/>
        </p:nvSpPr>
        <p:spPr>
          <a:xfrm>
            <a:off x="7962900" y="2566988"/>
            <a:ext cx="3295650" cy="914400"/>
          </a:xfrm>
          <a:prstGeom prst="round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solidFill>
                  <a:srgbClr val="FFFF00"/>
                </a:solidFill>
              </a:rPr>
              <a:t>PREMIO</a:t>
            </a:r>
          </a:p>
          <a:p>
            <a:r>
              <a:rPr lang="es-ES" b="1" dirty="0"/>
              <a:t>Hasta 1.000.000 euros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51CE798-2670-0AD5-2578-780D541755B5}"/>
              </a:ext>
            </a:extLst>
          </p:cNvPr>
          <p:cNvSpPr/>
          <p:nvPr/>
        </p:nvSpPr>
        <p:spPr>
          <a:xfrm>
            <a:off x="7962900" y="3648076"/>
            <a:ext cx="3295650" cy="914400"/>
          </a:xfrm>
          <a:prstGeom prst="roundRect">
            <a:avLst/>
          </a:prstGeom>
          <a:ln w="57150"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solidFill>
                  <a:srgbClr val="FFFF00"/>
                </a:solidFill>
              </a:rPr>
              <a:t>COMODINES</a:t>
            </a:r>
          </a:p>
          <a:p>
            <a:r>
              <a:rPr lang="es-ES" b="1" dirty="0">
                <a:solidFill>
                  <a:schemeClr val="bg1"/>
                </a:solidFill>
              </a:rPr>
              <a:t>4 Comodines disponibles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C1A7C71-F01A-E967-8B0A-3C84A7A33434}"/>
              </a:ext>
            </a:extLst>
          </p:cNvPr>
          <p:cNvSpPr/>
          <p:nvPr/>
        </p:nvSpPr>
        <p:spPr>
          <a:xfrm>
            <a:off x="7962900" y="4729164"/>
            <a:ext cx="3295650" cy="914400"/>
          </a:xfrm>
          <a:prstGeom prst="roundRect">
            <a:avLst/>
          </a:prstGeom>
          <a:ln w="57150"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solidFill>
                  <a:srgbClr val="FFFF00"/>
                </a:solidFill>
              </a:rPr>
              <a:t>BASE DE DATOS</a:t>
            </a:r>
          </a:p>
          <a:p>
            <a:r>
              <a:rPr lang="es-ES" b="1" dirty="0"/>
              <a:t>MongoDB NoSQL</a:t>
            </a:r>
          </a:p>
        </p:txBody>
      </p:sp>
    </p:spTree>
    <p:extLst>
      <p:ext uri="{BB962C8B-B14F-4D97-AF65-F5344CB8AC3E}">
        <p14:creationId xmlns:p14="http://schemas.microsoft.com/office/powerpoint/2010/main" val="134467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6EC2FAC-AADB-61A6-F2FF-265DF95C37EA}"/>
              </a:ext>
            </a:extLst>
          </p:cNvPr>
          <p:cNvSpPr/>
          <p:nvPr/>
        </p:nvSpPr>
        <p:spPr>
          <a:xfrm>
            <a:off x="182351" y="462260"/>
            <a:ext cx="514076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Pantallas Desarrolladas</a:t>
            </a:r>
            <a:endParaRPr lang="es-ES" sz="40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B32070-8D4F-E2A9-D14B-F90FE19C82DE}"/>
              </a:ext>
            </a:extLst>
          </p:cNvPr>
          <p:cNvSpPr/>
          <p:nvPr/>
        </p:nvSpPr>
        <p:spPr>
          <a:xfrm>
            <a:off x="2105025" y="1501705"/>
            <a:ext cx="3381374" cy="1257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Menú Principal</a:t>
            </a:r>
          </a:p>
          <a:p>
            <a:pPr algn="ctr"/>
            <a:r>
              <a:rPr lang="es-ES" dirty="0"/>
              <a:t>Nueva Partida, Ranking, Cómo jugar, Salir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3A1DF0F-164E-5DEB-4836-0C0D726E0E32}"/>
              </a:ext>
            </a:extLst>
          </p:cNvPr>
          <p:cNvSpPr/>
          <p:nvPr/>
        </p:nvSpPr>
        <p:spPr>
          <a:xfrm>
            <a:off x="1166817" y="1501705"/>
            <a:ext cx="1090608" cy="1257300"/>
          </a:xfrm>
          <a:prstGeom prst="rect">
            <a:avLst/>
          </a:prstGeom>
          <a:solidFill>
            <a:schemeClr val="accent4"/>
          </a:solidFill>
          <a:ln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2F1E617-83A4-5F32-EF08-93047E33B4F6}"/>
              </a:ext>
            </a:extLst>
          </p:cNvPr>
          <p:cNvSpPr/>
          <p:nvPr/>
        </p:nvSpPr>
        <p:spPr>
          <a:xfrm>
            <a:off x="2105024" y="3149530"/>
            <a:ext cx="3381375" cy="1257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Registro</a:t>
            </a:r>
          </a:p>
          <a:p>
            <a:pPr algn="ctr"/>
            <a:r>
              <a:rPr lang="es-ES" dirty="0"/>
              <a:t>Nombre del jugador, elección de temática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5D88299-3230-CFCE-8D1D-91CAB47B42E6}"/>
              </a:ext>
            </a:extLst>
          </p:cNvPr>
          <p:cNvSpPr/>
          <p:nvPr/>
        </p:nvSpPr>
        <p:spPr>
          <a:xfrm>
            <a:off x="1166817" y="3149530"/>
            <a:ext cx="1090608" cy="1257300"/>
          </a:xfrm>
          <a:prstGeom prst="rect">
            <a:avLst/>
          </a:prstGeom>
          <a:solidFill>
            <a:schemeClr val="accent4"/>
          </a:solidFill>
          <a:ln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2C0F53B-1F46-FCD0-0CE0-3649BEA8DFCB}"/>
              </a:ext>
            </a:extLst>
          </p:cNvPr>
          <p:cNvSpPr/>
          <p:nvPr/>
        </p:nvSpPr>
        <p:spPr>
          <a:xfrm>
            <a:off x="2105025" y="4797355"/>
            <a:ext cx="3381374" cy="1257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Resultado</a:t>
            </a:r>
          </a:p>
          <a:p>
            <a:pPr algn="ctr"/>
            <a:r>
              <a:rPr lang="es-ES" dirty="0"/>
              <a:t>Premio obtenido al ganar o plantarse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4171AF4-803C-8636-AB3D-DDC28A365CC4}"/>
              </a:ext>
            </a:extLst>
          </p:cNvPr>
          <p:cNvSpPr/>
          <p:nvPr/>
        </p:nvSpPr>
        <p:spPr>
          <a:xfrm>
            <a:off x="1166817" y="4797355"/>
            <a:ext cx="1090608" cy="1257300"/>
          </a:xfrm>
          <a:prstGeom prst="rect">
            <a:avLst/>
          </a:prstGeom>
          <a:solidFill>
            <a:schemeClr val="accent4"/>
          </a:solidFill>
          <a:ln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73B8426-4D33-A5AE-50C6-84850AA1CF42}"/>
              </a:ext>
            </a:extLst>
          </p:cNvPr>
          <p:cNvSpPr/>
          <p:nvPr/>
        </p:nvSpPr>
        <p:spPr>
          <a:xfrm>
            <a:off x="7415208" y="1501705"/>
            <a:ext cx="3219450" cy="1257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Cómo Jugar</a:t>
            </a:r>
          </a:p>
          <a:p>
            <a:pPr algn="ctr"/>
            <a:r>
              <a:rPr lang="es-ES" dirty="0"/>
              <a:t>Explicación del juego y sus comodines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A56E4C6-DC4A-9E5B-6829-B6F2A796CDC3}"/>
              </a:ext>
            </a:extLst>
          </p:cNvPr>
          <p:cNvSpPr/>
          <p:nvPr/>
        </p:nvSpPr>
        <p:spPr>
          <a:xfrm>
            <a:off x="6477000" y="1501705"/>
            <a:ext cx="1090608" cy="1257300"/>
          </a:xfrm>
          <a:prstGeom prst="rect">
            <a:avLst/>
          </a:prstGeom>
          <a:solidFill>
            <a:schemeClr val="accent4"/>
          </a:solidFill>
          <a:ln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47103E5-6F4B-1B27-95F5-0DCD36995239}"/>
              </a:ext>
            </a:extLst>
          </p:cNvPr>
          <p:cNvSpPr/>
          <p:nvPr/>
        </p:nvSpPr>
        <p:spPr>
          <a:xfrm>
            <a:off x="7415208" y="3149530"/>
            <a:ext cx="3219450" cy="1257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Pantalla de Juego</a:t>
            </a:r>
          </a:p>
          <a:p>
            <a:pPr algn="ctr"/>
            <a:r>
              <a:rPr lang="es-ES" dirty="0"/>
              <a:t>Preguntas + respuestas+ comodines + premios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42DE3D2-8859-492C-4E3C-335263B022FB}"/>
              </a:ext>
            </a:extLst>
          </p:cNvPr>
          <p:cNvSpPr/>
          <p:nvPr/>
        </p:nvSpPr>
        <p:spPr>
          <a:xfrm>
            <a:off x="6477000" y="3149530"/>
            <a:ext cx="1090608" cy="1257300"/>
          </a:xfrm>
          <a:prstGeom prst="rect">
            <a:avLst/>
          </a:prstGeom>
          <a:solidFill>
            <a:schemeClr val="accent4"/>
          </a:solidFill>
          <a:ln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E56CB2-54A4-1F10-A9F0-95397D1309AD}"/>
              </a:ext>
            </a:extLst>
          </p:cNvPr>
          <p:cNvSpPr/>
          <p:nvPr/>
        </p:nvSpPr>
        <p:spPr>
          <a:xfrm>
            <a:off x="7415208" y="4797355"/>
            <a:ext cx="3219450" cy="1257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Ranking</a:t>
            </a:r>
          </a:p>
          <a:p>
            <a:pPr algn="ctr"/>
            <a:r>
              <a:rPr lang="es-ES" dirty="0"/>
              <a:t>Clasificación de los jugadores por puntuación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2A252FA-8120-E738-16B5-527AA6FBCE02}"/>
              </a:ext>
            </a:extLst>
          </p:cNvPr>
          <p:cNvSpPr/>
          <p:nvPr/>
        </p:nvSpPr>
        <p:spPr>
          <a:xfrm>
            <a:off x="6477000" y="4797355"/>
            <a:ext cx="1090608" cy="1257300"/>
          </a:xfrm>
          <a:prstGeom prst="rect">
            <a:avLst/>
          </a:prstGeom>
          <a:solidFill>
            <a:schemeClr val="accent4"/>
          </a:solidFill>
          <a:ln>
            <a:solidFill>
              <a:srgbClr val="1E1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73409A4-0479-961F-0E85-F465359038A6}"/>
              </a:ext>
            </a:extLst>
          </p:cNvPr>
          <p:cNvSpPr/>
          <p:nvPr/>
        </p:nvSpPr>
        <p:spPr>
          <a:xfrm>
            <a:off x="1444259" y="1698173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2E6FFB4-7487-6095-6971-BAF736F47BFC}"/>
              </a:ext>
            </a:extLst>
          </p:cNvPr>
          <p:cNvSpPr/>
          <p:nvPr/>
        </p:nvSpPr>
        <p:spPr>
          <a:xfrm>
            <a:off x="1444257" y="331651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17B4A50-38D2-74DC-317E-1F6B7E49DBB3}"/>
              </a:ext>
            </a:extLst>
          </p:cNvPr>
          <p:cNvSpPr/>
          <p:nvPr/>
        </p:nvSpPr>
        <p:spPr>
          <a:xfrm>
            <a:off x="1423988" y="496434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325FEA4-4878-756E-C469-9A1C7AF71696}"/>
              </a:ext>
            </a:extLst>
          </p:cNvPr>
          <p:cNvSpPr/>
          <p:nvPr/>
        </p:nvSpPr>
        <p:spPr>
          <a:xfrm>
            <a:off x="6754441" y="166869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CA9B504-19D0-417A-8E00-2446499CB82E}"/>
              </a:ext>
            </a:extLst>
          </p:cNvPr>
          <p:cNvSpPr/>
          <p:nvPr/>
        </p:nvSpPr>
        <p:spPr>
          <a:xfrm>
            <a:off x="6743696" y="331651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E6E2227-7F8E-7234-1916-E7DD946E43BB}"/>
              </a:ext>
            </a:extLst>
          </p:cNvPr>
          <p:cNvSpPr/>
          <p:nvPr/>
        </p:nvSpPr>
        <p:spPr>
          <a:xfrm>
            <a:off x="6732951" y="496434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4021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E260ABF-FA3B-B617-FC45-AB826E166A5D}"/>
              </a:ext>
            </a:extLst>
          </p:cNvPr>
          <p:cNvSpPr/>
          <p:nvPr/>
        </p:nvSpPr>
        <p:spPr>
          <a:xfrm>
            <a:off x="246027" y="462260"/>
            <a:ext cx="501342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Diseño Interfaz Gráfica</a:t>
            </a:r>
            <a:endParaRPr lang="es-ES" sz="40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FE68BE-8DCC-9C5C-9F30-8EDDC2548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88" y="1401848"/>
            <a:ext cx="3840500" cy="27510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C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4B9DDE6-8942-823C-8330-536E4C1DC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076" y="1415299"/>
            <a:ext cx="4392737" cy="27510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C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6D772F7-8D92-8CA1-9E4C-08C270786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814" y="3640223"/>
            <a:ext cx="3840499" cy="27510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C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51A6BB4-938A-D5A5-E269-C096E6F5D832}"/>
              </a:ext>
            </a:extLst>
          </p:cNvPr>
          <p:cNvSpPr txBox="1"/>
          <p:nvPr/>
        </p:nvSpPr>
        <p:spPr>
          <a:xfrm>
            <a:off x="246027" y="4629150"/>
            <a:ext cx="7488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Hemos seleccionado el color azul en casi todas las pantallas, ya que pensamos que da un toque mas interesante a la interfaz, también, en casi todos los botones hemos añadido un borde amarillo para que resalten a la hora de utilizarlos. En resumen, el color azul y amarillo representan los colores de nuestro concurso.</a:t>
            </a:r>
          </a:p>
        </p:txBody>
      </p:sp>
    </p:spTree>
    <p:extLst>
      <p:ext uri="{BB962C8B-B14F-4D97-AF65-F5344CB8AC3E}">
        <p14:creationId xmlns:p14="http://schemas.microsoft.com/office/powerpoint/2010/main" val="3672565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7069AA3-406D-7E51-9CB6-9EBE913F9027}"/>
              </a:ext>
            </a:extLst>
          </p:cNvPr>
          <p:cNvSpPr/>
          <p:nvPr/>
        </p:nvSpPr>
        <p:spPr>
          <a:xfrm>
            <a:off x="415501" y="462260"/>
            <a:ext cx="467448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Comodines del Juego</a:t>
            </a:r>
            <a:endParaRPr lang="es-ES" sz="40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E746A94-13C7-BF6E-6689-80BB214C588C}"/>
              </a:ext>
            </a:extLst>
          </p:cNvPr>
          <p:cNvSpPr/>
          <p:nvPr/>
        </p:nvSpPr>
        <p:spPr>
          <a:xfrm>
            <a:off x="2933700" y="2043112"/>
            <a:ext cx="2518236" cy="13620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Elimina dos respuestas incorrectas, dejando solo 2 opciones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B3D22E2-937A-D93D-859E-4CA676A1D5C4}"/>
              </a:ext>
            </a:extLst>
          </p:cNvPr>
          <p:cNvSpPr/>
          <p:nvPr/>
        </p:nvSpPr>
        <p:spPr>
          <a:xfrm>
            <a:off x="1171573" y="2271711"/>
            <a:ext cx="1647825" cy="9429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50:50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0F2D44C-4BDA-E560-6716-BD12EC97EF97}"/>
              </a:ext>
            </a:extLst>
          </p:cNvPr>
          <p:cNvSpPr/>
          <p:nvPr/>
        </p:nvSpPr>
        <p:spPr>
          <a:xfrm>
            <a:off x="2933700" y="3695700"/>
            <a:ext cx="2518236" cy="13620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 chat vota cual cree que es la respuesta correcta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9EE8995-56AE-F53F-9292-10099F490F4D}"/>
              </a:ext>
            </a:extLst>
          </p:cNvPr>
          <p:cNvSpPr/>
          <p:nvPr/>
        </p:nvSpPr>
        <p:spPr>
          <a:xfrm>
            <a:off x="1171573" y="3924299"/>
            <a:ext cx="1647825" cy="9429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CHAT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DB79667-00B2-572E-8E5E-340FCFD57D67}"/>
              </a:ext>
            </a:extLst>
          </p:cNvPr>
          <p:cNvSpPr/>
          <p:nvPr/>
        </p:nvSpPr>
        <p:spPr>
          <a:xfrm>
            <a:off x="8220077" y="2043112"/>
            <a:ext cx="2518236" cy="13620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 llama a un amigo para que opine cual cree que es la respuesta correcta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2C778B5-8CA7-B3B5-4324-53A90275A27E}"/>
              </a:ext>
            </a:extLst>
          </p:cNvPr>
          <p:cNvSpPr/>
          <p:nvPr/>
        </p:nvSpPr>
        <p:spPr>
          <a:xfrm>
            <a:off x="6457950" y="2271711"/>
            <a:ext cx="1647825" cy="9429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LLAMADA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37487E0-C5F4-4520-7651-CD7393BD1F2D}"/>
              </a:ext>
            </a:extLst>
          </p:cNvPr>
          <p:cNvSpPr/>
          <p:nvPr/>
        </p:nvSpPr>
        <p:spPr>
          <a:xfrm>
            <a:off x="8220077" y="3714750"/>
            <a:ext cx="2518236" cy="13620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Elimina de manera aleatoria de 1 a 3 respuestas incorrectas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2E11D9A-ECD5-0664-13EB-0315708BC7E6}"/>
              </a:ext>
            </a:extLst>
          </p:cNvPr>
          <p:cNvSpPr/>
          <p:nvPr/>
        </p:nvSpPr>
        <p:spPr>
          <a:xfrm>
            <a:off x="6457950" y="3943349"/>
            <a:ext cx="1647825" cy="9429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RULETA</a:t>
            </a:r>
          </a:p>
        </p:txBody>
      </p:sp>
    </p:spTree>
    <p:extLst>
      <p:ext uri="{BB962C8B-B14F-4D97-AF65-F5344CB8AC3E}">
        <p14:creationId xmlns:p14="http://schemas.microsoft.com/office/powerpoint/2010/main" val="293811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DB45949-2E71-A6D8-E117-DF0A69C22E31}"/>
              </a:ext>
            </a:extLst>
          </p:cNvPr>
          <p:cNvSpPr/>
          <p:nvPr/>
        </p:nvSpPr>
        <p:spPr>
          <a:xfrm>
            <a:off x="179238" y="424160"/>
            <a:ext cx="737586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Gestión de Versiones Git y GitHub</a:t>
            </a:r>
            <a:endParaRPr lang="es-ES" sz="40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5635C9-1B68-D16F-23E4-4D1B66A9FAC3}"/>
              </a:ext>
            </a:extLst>
          </p:cNvPr>
          <p:cNvSpPr/>
          <p:nvPr/>
        </p:nvSpPr>
        <p:spPr>
          <a:xfrm>
            <a:off x="1400174" y="1781175"/>
            <a:ext cx="4210051" cy="12573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>
                <a:solidFill>
                  <a:srgbClr val="FFC000"/>
                </a:solidFill>
              </a:rPr>
              <a:t>Repositorio Creado</a:t>
            </a:r>
          </a:p>
          <a:p>
            <a:pPr algn="ctr"/>
            <a:r>
              <a:rPr lang="es-ES" dirty="0"/>
              <a:t>Creamos el repositorio en GitHub y nos añadimos como colaboradores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73ADE9C-4389-2C5B-0A13-732269DEBBE6}"/>
              </a:ext>
            </a:extLst>
          </p:cNvPr>
          <p:cNvSpPr/>
          <p:nvPr/>
        </p:nvSpPr>
        <p:spPr>
          <a:xfrm>
            <a:off x="471491" y="1781175"/>
            <a:ext cx="1090608" cy="125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EAF1E15-5018-1908-7080-690EDFF1EE75}"/>
              </a:ext>
            </a:extLst>
          </p:cNvPr>
          <p:cNvSpPr/>
          <p:nvPr/>
        </p:nvSpPr>
        <p:spPr>
          <a:xfrm>
            <a:off x="1400174" y="3429000"/>
            <a:ext cx="4210051" cy="12573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 err="1">
                <a:solidFill>
                  <a:srgbClr val="FFC000"/>
                </a:solidFill>
              </a:rPr>
              <a:t>Commits</a:t>
            </a:r>
            <a:r>
              <a:rPr lang="es-ES" b="1" u="sng" dirty="0">
                <a:solidFill>
                  <a:srgbClr val="FFC000"/>
                </a:solidFill>
              </a:rPr>
              <a:t> regulares:</a:t>
            </a:r>
          </a:p>
          <a:p>
            <a:pPr algn="ctr"/>
            <a:r>
              <a:rPr lang="es-ES" dirty="0"/>
              <a:t>Después de cada avance se realiza un </a:t>
            </a:r>
            <a:r>
              <a:rPr lang="es-ES" dirty="0" err="1"/>
              <a:t>commit</a:t>
            </a:r>
            <a:r>
              <a:rPr lang="es-ES" dirty="0"/>
              <a:t> con un mensaje sobre la tarea realizada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55D4FE-D213-E594-D2CC-A1BA8C5CE4F9}"/>
              </a:ext>
            </a:extLst>
          </p:cNvPr>
          <p:cNvSpPr/>
          <p:nvPr/>
        </p:nvSpPr>
        <p:spPr>
          <a:xfrm>
            <a:off x="461967" y="3429000"/>
            <a:ext cx="1090608" cy="125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CA72B6-C3D3-80C6-C001-BEA853908E60}"/>
              </a:ext>
            </a:extLst>
          </p:cNvPr>
          <p:cNvSpPr/>
          <p:nvPr/>
        </p:nvSpPr>
        <p:spPr>
          <a:xfrm>
            <a:off x="7043732" y="1781175"/>
            <a:ext cx="4649427" cy="12573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>
                <a:solidFill>
                  <a:srgbClr val="FFC000"/>
                </a:solidFill>
              </a:rPr>
              <a:t>Clonado en Eclipse:</a:t>
            </a:r>
          </a:p>
          <a:p>
            <a:pPr algn="ctr"/>
            <a:r>
              <a:rPr lang="es-ES" dirty="0"/>
              <a:t>Conectamos Eclipse al repositorio y cada miembro clonó el proyecto en su dispositivo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BF0FAB-11F9-8671-C9FD-F4C1DC2DCC1A}"/>
              </a:ext>
            </a:extLst>
          </p:cNvPr>
          <p:cNvSpPr/>
          <p:nvPr/>
        </p:nvSpPr>
        <p:spPr>
          <a:xfrm>
            <a:off x="6105525" y="1781175"/>
            <a:ext cx="1090608" cy="125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2AE72C-B152-B6E8-B4BB-9B71FAC264E2}"/>
              </a:ext>
            </a:extLst>
          </p:cNvPr>
          <p:cNvSpPr/>
          <p:nvPr/>
        </p:nvSpPr>
        <p:spPr>
          <a:xfrm>
            <a:off x="7043732" y="3429000"/>
            <a:ext cx="4649427" cy="12573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>
                <a:solidFill>
                  <a:srgbClr val="FFC000"/>
                </a:solidFill>
              </a:rPr>
              <a:t>Funciones</a:t>
            </a:r>
          </a:p>
          <a:p>
            <a:pPr algn="ctr"/>
            <a:r>
              <a:rPr lang="es-ES" dirty="0">
                <a:solidFill>
                  <a:schemeClr val="bg1"/>
                </a:solidFill>
              </a:rPr>
              <a:t>Cada funcionalidad se desarrolla en su propia</a:t>
            </a:r>
          </a:p>
          <a:p>
            <a:pPr algn="ctr"/>
            <a:r>
              <a:rPr lang="es-ES" dirty="0">
                <a:solidFill>
                  <a:schemeClr val="bg1"/>
                </a:solidFill>
              </a:rPr>
              <a:t>rama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3F28A5B-95DC-1906-6411-03710F0D1AE6}"/>
              </a:ext>
            </a:extLst>
          </p:cNvPr>
          <p:cNvSpPr/>
          <p:nvPr/>
        </p:nvSpPr>
        <p:spPr>
          <a:xfrm>
            <a:off x="6105525" y="3429000"/>
            <a:ext cx="1090608" cy="125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B4C4714-A84C-3C1E-7B0F-E8EDC0826E82}"/>
              </a:ext>
            </a:extLst>
          </p:cNvPr>
          <p:cNvSpPr/>
          <p:nvPr/>
        </p:nvSpPr>
        <p:spPr>
          <a:xfrm>
            <a:off x="739409" y="1977643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E0C34AC-553C-2072-BB1B-6E3E2992DB81}"/>
              </a:ext>
            </a:extLst>
          </p:cNvPr>
          <p:cNvSpPr/>
          <p:nvPr/>
        </p:nvSpPr>
        <p:spPr>
          <a:xfrm>
            <a:off x="739407" y="359598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1F6BCE1-F692-4355-4591-A9BDCC531FA5}"/>
              </a:ext>
            </a:extLst>
          </p:cNvPr>
          <p:cNvSpPr/>
          <p:nvPr/>
        </p:nvSpPr>
        <p:spPr>
          <a:xfrm>
            <a:off x="6382966" y="194816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C935A60-F790-02D6-5C4F-EA5A90FCAE1F}"/>
              </a:ext>
            </a:extLst>
          </p:cNvPr>
          <p:cNvSpPr/>
          <p:nvPr/>
        </p:nvSpPr>
        <p:spPr>
          <a:xfrm>
            <a:off x="6372221" y="3595985"/>
            <a:ext cx="53572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5B455C-7FA0-6659-7C90-D5A8EF98C10E}"/>
              </a:ext>
            </a:extLst>
          </p:cNvPr>
          <p:cNvSpPr/>
          <p:nvPr/>
        </p:nvSpPr>
        <p:spPr>
          <a:xfrm>
            <a:off x="461967" y="4984610"/>
            <a:ext cx="11231192" cy="12573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0CC5A6-656A-139B-0146-ECD8A837C639}"/>
              </a:ext>
            </a:extLst>
          </p:cNvPr>
          <p:cNvSpPr txBox="1"/>
          <p:nvPr/>
        </p:nvSpPr>
        <p:spPr>
          <a:xfrm>
            <a:off x="594091" y="5428594"/>
            <a:ext cx="1113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REPOSITORIO EN GITHUB: https://github.com/juliansanchezpablo-maker/El-Concursillo-IlloJuan.git </a:t>
            </a:r>
          </a:p>
        </p:txBody>
      </p:sp>
      <p:pic>
        <p:nvPicPr>
          <p:cNvPr id="1026" name="Picture 2" descr="GitHub Logo Computer File PNG">
            <a:extLst>
              <a:ext uri="{FF2B5EF4-FFF2-40B4-BE49-F238E27FC236}">
                <a16:creationId xmlns:a16="http://schemas.microsoft.com/office/drawing/2014/main" id="{88184F38-A10A-5257-1D49-C45B9647A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505" b="96847" l="3084" r="97357">
                        <a14:foregroundMark x1="70925" y1="84685" x2="82819" y2="62162"/>
                        <a14:foregroundMark x1="82819" y1="62162" x2="83260" y2="38739"/>
                        <a14:foregroundMark x1="64570" y1="16303" x2="62996" y2="14414"/>
                        <a14:foregroundMark x1="83260" y1="38739" x2="79132" y2="33784"/>
                        <a14:foregroundMark x1="62996" y1="14414" x2="38767" y2="12613"/>
                        <a14:foregroundMark x1="21465" y1="24775" x2="17621" y2="27477"/>
                        <a14:foregroundMark x1="23165" y1="23580" x2="21465" y2="24775"/>
                        <a14:foregroundMark x1="26592" y1="21171" x2="25819" y2="21714"/>
                        <a14:foregroundMark x1="38767" y1="12613" x2="26898" y2="20956"/>
                        <a14:foregroundMark x1="17621" y1="27477" x2="8811" y2="49550"/>
                        <a14:foregroundMark x1="24099" y1="77775" x2="24618" y2="78733"/>
                        <a14:foregroundMark x1="8811" y1="49550" x2="23492" y2="76654"/>
                        <a14:foregroundMark x1="34398" y1="93227" x2="30837" y2="91892"/>
                        <a14:foregroundMark x1="20031" y1="24775" x2="8370" y2="47297"/>
                        <a14:foregroundMark x1="20264" y1="24324" x2="20031" y2="24775"/>
                        <a14:foregroundMark x1="8370" y1="47297" x2="11894" y2="75225"/>
                        <a14:foregroundMark x1="17911" y1="82744" x2="18122" y2="83008"/>
                        <a14:foregroundMark x1="13696" y1="77477" x2="17128" y2="81766"/>
                        <a14:foregroundMark x1="11894" y1="75225" x2="13696" y2="77477"/>
                        <a14:foregroundMark x1="16803" y1="24775" x2="7489" y2="33784"/>
                        <a14:foregroundMark x1="19131" y1="22523" x2="16803" y2="24775"/>
                        <a14:foregroundMark x1="21238" y1="20485" x2="19131" y2="22523"/>
                        <a14:foregroundMark x1="23789" y1="18018" x2="21788" y2="19953"/>
                        <a14:foregroundMark x1="7489" y1="33784" x2="7489" y2="56757"/>
                        <a14:foregroundMark x1="6608" y1="50901" x2="6608" y2="50901"/>
                        <a14:foregroundMark x1="5727" y1="53604" x2="5727" y2="53604"/>
                        <a14:foregroundMark x1="3084" y1="48198" x2="5286" y2="55405"/>
                        <a14:foregroundMark x1="28822" y1="15291" x2="63436" y2="10811"/>
                        <a14:foregroundMark x1="63436" y1="10811" x2="77533" y2="14414"/>
                        <a14:foregroundMark x1="83700" y1="26577" x2="92511" y2="59009"/>
                        <a14:foregroundMark x1="92511" y1="59009" x2="67892" y2="88196"/>
                        <a14:foregroundMark x1="36564" y1="9910" x2="50661" y2="9910"/>
                        <a14:foregroundMark x1="51101" y1="6306" x2="62555" y2="5856"/>
                        <a14:foregroundMark x1="49780" y1="5405" x2="50661" y2="4505"/>
                        <a14:foregroundMark x1="88546" y1="33784" x2="95595" y2="44595"/>
                        <a14:foregroundMark x1="94714" y1="50901" x2="94714" y2="50901"/>
                        <a14:foregroundMark x1="97357" y1="51802" x2="96476" y2="54505"/>
                        <a14:backgroundMark x1="2643" y1="84685" x2="10573" y2="99099"/>
                        <a14:backgroundMark x1="50661" y1="45946" x2="53304" y2="74775"/>
                        <a14:backgroundMark x1="73568" y1="27477" x2="73568" y2="27477"/>
                        <a14:backgroundMark x1="68722" y1="33784" x2="74890" y2="24775"/>
                        <a14:backgroundMark x1="72247" y1="23874" x2="70485" y2="23423"/>
                        <a14:backgroundMark x1="74009" y1="27027" x2="74009" y2="33784"/>
                        <a14:backgroundMark x1="72687" y1="23423" x2="68722" y2="24324"/>
                        <a14:backgroundMark x1="24229" y1="24775" x2="24229" y2="24775"/>
                        <a14:backgroundMark x1="25551" y1="22523" x2="25551" y2="22523"/>
                        <a14:backgroundMark x1="24229" y1="24324" x2="25110" y2="23423"/>
                        <a14:backgroundMark x1="23789" y1="80631" x2="26872" y2="84685"/>
                        <a14:backgroundMark x1="38326" y1="87387" x2="31278" y2="87387"/>
                        <a14:backgroundMark x1="22026" y1="77477" x2="22026" y2="77477"/>
                        <a14:backgroundMark x1="22467" y1="77477" x2="23348" y2="78378"/>
                        <a14:backgroundMark x1="43172" y1="98649" x2="40529" y2="98649"/>
                        <a14:backgroundMark x1="44053" y1="97297" x2="43172" y2="98198"/>
                        <a14:backgroundMark x1="44493" y1="92793" x2="42291" y2="99099"/>
                        <a14:backgroundMark x1="57269" y1="87387" x2="61233" y2="96396"/>
                        <a14:backgroundMark x1="24229" y1="22523" x2="24229" y2="22523"/>
                        <a14:backgroundMark x1="24229" y1="22072" x2="25551" y2="21622"/>
                        <a14:backgroundMark x1="27313" y1="21622" x2="26872" y2="21622"/>
                        <a14:backgroundMark x1="24229" y1="23874" x2="23348" y2="23874"/>
                        <a14:backgroundMark x1="23789" y1="23874" x2="23348" y2="23874"/>
                        <a14:backgroundMark x1="23789" y1="79279" x2="25110" y2="810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7366">
            <a:off x="7563180" y="413256"/>
            <a:ext cx="1081088" cy="102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147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38ED4B0-D686-9AC1-62CC-A08A994835A0}"/>
              </a:ext>
            </a:extLst>
          </p:cNvPr>
          <p:cNvSpPr/>
          <p:nvPr/>
        </p:nvSpPr>
        <p:spPr>
          <a:xfrm>
            <a:off x="246108" y="319385"/>
            <a:ext cx="48418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Tecnologías Utilizadas</a:t>
            </a:r>
            <a:endParaRPr lang="es-ES" sz="4000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93CC6F-2D0E-0C89-9CE7-1F0B595C97B1}"/>
              </a:ext>
            </a:extLst>
          </p:cNvPr>
          <p:cNvSpPr/>
          <p:nvPr/>
        </p:nvSpPr>
        <p:spPr>
          <a:xfrm>
            <a:off x="962025" y="1266826"/>
            <a:ext cx="2990850" cy="21621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4E638F1-48C0-F8F8-492D-4D2AC8441731}"/>
              </a:ext>
            </a:extLst>
          </p:cNvPr>
          <p:cNvSpPr/>
          <p:nvPr/>
        </p:nvSpPr>
        <p:spPr>
          <a:xfrm>
            <a:off x="4600575" y="1266825"/>
            <a:ext cx="2990850" cy="21621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CEF4590-0FE6-7B62-B9A3-3D1AB7267C21}"/>
              </a:ext>
            </a:extLst>
          </p:cNvPr>
          <p:cNvSpPr/>
          <p:nvPr/>
        </p:nvSpPr>
        <p:spPr>
          <a:xfrm>
            <a:off x="8229600" y="1266825"/>
            <a:ext cx="2990850" cy="21621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68F1DD-E211-6D84-95FB-2FEE02FC7FAA}"/>
              </a:ext>
            </a:extLst>
          </p:cNvPr>
          <p:cNvSpPr/>
          <p:nvPr/>
        </p:nvSpPr>
        <p:spPr>
          <a:xfrm>
            <a:off x="962025" y="3895726"/>
            <a:ext cx="2990850" cy="21621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D953BD-C616-0F25-1F6B-5D04443352DB}"/>
              </a:ext>
            </a:extLst>
          </p:cNvPr>
          <p:cNvSpPr/>
          <p:nvPr/>
        </p:nvSpPr>
        <p:spPr>
          <a:xfrm>
            <a:off x="4600575" y="3895724"/>
            <a:ext cx="2990850" cy="21621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02542B6-B97D-0131-586B-7CF5FA27F99B}"/>
              </a:ext>
            </a:extLst>
          </p:cNvPr>
          <p:cNvSpPr/>
          <p:nvPr/>
        </p:nvSpPr>
        <p:spPr>
          <a:xfrm>
            <a:off x="8229600" y="3895725"/>
            <a:ext cx="2990850" cy="21621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50" name="Picture 2" descr="Java - Iconos gratis de logo">
            <a:extLst>
              <a:ext uri="{FF2B5EF4-FFF2-40B4-BE49-F238E27FC236}">
                <a16:creationId xmlns:a16="http://schemas.microsoft.com/office/drawing/2014/main" id="{53431D25-62B9-210C-C9C1-7FA458E59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7778" l="9778" r="89778">
                        <a14:foregroundMark x1="60000" y1="8000" x2="58226" y2="11178"/>
                        <a14:foregroundMark x1="57858" y1="10914" x2="58222" y2="10222"/>
                        <a14:foregroundMark x1="56444" y1="9778" x2="58222" y2="2667"/>
                        <a14:foregroundMark x1="60616" y1="44787" x2="58667" y2="50222"/>
                        <a14:foregroundMark x1="63722" y1="36121" x2="63576" y2="36528"/>
                        <a14:foregroundMark x1="67111" y1="26667" x2="66121" y2="29427"/>
                        <a14:foregroundMark x1="59682" y1="38550" x2="60120" y2="33504"/>
                        <a14:foregroundMark x1="58667" y1="50222" x2="59108" y2="45145"/>
                        <a14:foregroundMark x1="40868" y1="90825" x2="77333" y2="86667"/>
                        <a14:foregroundMark x1="26667" y1="92444" x2="35295" y2="91460"/>
                        <a14:foregroundMark x1="45718" y1="97606" x2="65333" y2="97333"/>
                        <a14:foregroundMark x1="33904" y1="97770" x2="34213" y2="97766"/>
                        <a14:foregroundMark x1="65333" y1="97333" x2="65333" y2="97333"/>
                        <a14:foregroundMark x1="80264" y1="62106" x2="80444" y2="64000"/>
                        <a14:foregroundMark x1="79556" y1="54667" x2="79582" y2="54944"/>
                        <a14:foregroundMark x1="80889" y1="52444" x2="80889" y2="54222"/>
                        <a14:foregroundMark x1="80444" y1="54222" x2="80393" y2="54684"/>
                        <a14:foregroundMark x1="79556" y1="68889" x2="80000" y2="64444"/>
                        <a14:foregroundMark x1="33778" y1="96444" x2="33333" y2="96444"/>
                        <a14:foregroundMark x1="36889" y1="97778" x2="33778" y2="96444"/>
                        <a14:foregroundMark x1="33333" y1="96444" x2="36000" y2="97333"/>
                        <a14:foregroundMark x1="52444" y1="24889" x2="46222" y2="27556"/>
                        <a14:foregroundMark x1="41333" y1="35556" x2="46222" y2="28444"/>
                        <a14:foregroundMark x1="44889" y1="29333" x2="43111" y2="30667"/>
                        <a14:foregroundMark x1="43556" y1="32000" x2="41333" y2="33333"/>
                        <a14:foregroundMark x1="43111" y1="31111" x2="41778" y2="32889"/>
                        <a14:foregroundMark x1="44444" y1="30667" x2="41333" y2="32889"/>
                        <a14:foregroundMark x1="42222" y1="31556" x2="40889" y2="33778"/>
                        <a14:foregroundMark x1="60000" y1="11111" x2="60000" y2="16444"/>
                        <a14:backgroundMark x1="56889" y1="40000" x2="58667" y2="43111"/>
                        <a14:backgroundMark x1="67111" y1="32000" x2="63556" y2="36000"/>
                        <a14:backgroundMark x1="66667" y1="31556" x2="64000" y2="32444"/>
                        <a14:backgroundMark x1="66667" y1="29778" x2="65333" y2="31556"/>
                        <a14:backgroundMark x1="63111" y1="37333" x2="63556" y2="37778"/>
                        <a14:backgroundMark x1="59111" y1="43556" x2="60000" y2="44444"/>
                        <a14:backgroundMark x1="59556" y1="42222" x2="60000" y2="44889"/>
                        <a14:backgroundMark x1="39975" y1="33284" x2="38667" y2="34667"/>
                        <a14:backgroundMark x1="54222" y1="18222" x2="50291" y2="22378"/>
                        <a14:backgroundMark x1="38667" y1="34667" x2="38222" y2="36000"/>
                        <a14:backgroundMark x1="55111" y1="17778" x2="56889" y2="17333"/>
                        <a14:backgroundMark x1="56533" y1="16444" x2="54222" y2="19111"/>
                        <a14:backgroundMark x1="79704" y1="64070" x2="79556" y2="66222"/>
                        <a14:backgroundMark x1="20000" y1="83111" x2="20000" y2="85778"/>
                        <a14:backgroundMark x1="17333" y1="85333" x2="18667" y2="85778"/>
                        <a14:backgroundMark x1="43111" y1="94667" x2="40000" y2="94222"/>
                        <a14:backgroundMark x1="37651" y1="99284" x2="44444" y2="99556"/>
                        <a14:backgroundMark x1="34538" y1="99159" x2="35076" y2="99181"/>
                        <a14:backgroundMark x1="31556" y1="97333" x2="32622" y2="97333"/>
                        <a14:backgroundMark x1="80444" y1="54667" x2="82667" y2="61333"/>
                        <a14:backgroundMark x1="81333" y1="55556" x2="81333" y2="55556"/>
                        <a14:backgroundMark x1="80444" y1="64444" x2="80444" y2="6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9" y="1027271"/>
            <a:ext cx="1134904" cy="113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eatures of Java Swing - Naukri Code 360">
            <a:extLst>
              <a:ext uri="{FF2B5EF4-FFF2-40B4-BE49-F238E27FC236}">
                <a16:creationId xmlns:a16="http://schemas.microsoft.com/office/drawing/2014/main" id="{FA26A052-9A6B-F761-EF23-EA0EEB6A1C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2" t="14127" r="10179" b="16349"/>
          <a:stretch/>
        </p:blipFill>
        <p:spPr bwMode="auto">
          <a:xfrm>
            <a:off x="6640357" y="1095851"/>
            <a:ext cx="1286827" cy="824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6F4320D-6914-31AF-6971-8EC75A1FE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181" y="942550"/>
            <a:ext cx="1038611" cy="103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Eclipse logo entorno de desarrollo integrado lenguaje de programación  software, marco, púrpura, texto png | PNGEgg">
            <a:extLst>
              <a:ext uri="{FF2B5EF4-FFF2-40B4-BE49-F238E27FC236}">
                <a16:creationId xmlns:a16="http://schemas.microsoft.com/office/drawing/2014/main" id="{E3D377FB-C551-9CF4-181C-B332597CD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4889" y1="47111" x2="68000" y2="47111"/>
                        <a14:foregroundMark x1="68000" y1="47111" x2="70222" y2="46667"/>
                        <a14:foregroundMark x1="32889" y1="52889" x2="73333" y2="52444"/>
                        <a14:foregroundMark x1="40889" y1="61333" x2="64889" y2="63111"/>
                        <a14:foregroundMark x1="64889" y1="63111" x2="42667" y2="60000"/>
                        <a14:foregroundMark x1="42667" y1="60000" x2="54667" y2="72444"/>
                        <a14:foregroundMark x1="26965" y1="41419" x2="23556" y2="47556"/>
                        <a14:foregroundMark x1="34667" y1="27556" x2="33006" y2="30546"/>
                        <a14:foregroundMark x1="23556" y1="47556" x2="29606" y2="67723"/>
                        <a14:foregroundMark x1="43111" y1="33333" x2="54667" y2="35556"/>
                        <a14:backgroundMark x1="34667" y1="31556" x2="27556" y2="41778"/>
                        <a14:backgroundMark x1="27556" y1="69333" x2="32000" y2="73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764" y="3308034"/>
            <a:ext cx="1518286" cy="151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GitHub Logo Computer File PNG">
            <a:extLst>
              <a:ext uri="{FF2B5EF4-FFF2-40B4-BE49-F238E27FC236}">
                <a16:creationId xmlns:a16="http://schemas.microsoft.com/office/drawing/2014/main" id="{0A776A26-E978-8506-752B-D5407325A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505" b="96847" l="3084" r="97357">
                        <a14:foregroundMark x1="70925" y1="84685" x2="82819" y2="62162"/>
                        <a14:foregroundMark x1="82819" y1="62162" x2="83260" y2="38739"/>
                        <a14:foregroundMark x1="64570" y1="16303" x2="62996" y2="14414"/>
                        <a14:foregroundMark x1="83260" y1="38739" x2="79132" y2="33784"/>
                        <a14:foregroundMark x1="62996" y1="14414" x2="38767" y2="12613"/>
                        <a14:foregroundMark x1="21465" y1="24775" x2="17621" y2="27477"/>
                        <a14:foregroundMark x1="23165" y1="23580" x2="21465" y2="24775"/>
                        <a14:foregroundMark x1="26592" y1="21171" x2="25819" y2="21714"/>
                        <a14:foregroundMark x1="38767" y1="12613" x2="26898" y2="20956"/>
                        <a14:foregroundMark x1="17621" y1="27477" x2="8811" y2="49550"/>
                        <a14:foregroundMark x1="24099" y1="77775" x2="24618" y2="78733"/>
                        <a14:foregroundMark x1="8811" y1="49550" x2="23492" y2="76654"/>
                        <a14:foregroundMark x1="34398" y1="93227" x2="30837" y2="91892"/>
                        <a14:foregroundMark x1="20031" y1="24775" x2="8370" y2="47297"/>
                        <a14:foregroundMark x1="20264" y1="24324" x2="20031" y2="24775"/>
                        <a14:foregroundMark x1="8370" y1="47297" x2="11894" y2="75225"/>
                        <a14:foregroundMark x1="17911" y1="82744" x2="18122" y2="83008"/>
                        <a14:foregroundMark x1="13696" y1="77477" x2="17128" y2="81766"/>
                        <a14:foregroundMark x1="11894" y1="75225" x2="13696" y2="77477"/>
                        <a14:foregroundMark x1="16803" y1="24775" x2="7489" y2="33784"/>
                        <a14:foregroundMark x1="19131" y1="22523" x2="16803" y2="24775"/>
                        <a14:foregroundMark x1="21238" y1="20485" x2="19131" y2="22523"/>
                        <a14:foregroundMark x1="23789" y1="18018" x2="21788" y2="19953"/>
                        <a14:foregroundMark x1="7489" y1="33784" x2="7489" y2="56757"/>
                        <a14:foregroundMark x1="6608" y1="50901" x2="6608" y2="50901"/>
                        <a14:foregroundMark x1="5727" y1="53604" x2="5727" y2="53604"/>
                        <a14:foregroundMark x1="3084" y1="48198" x2="5286" y2="55405"/>
                        <a14:foregroundMark x1="28822" y1="15291" x2="63436" y2="10811"/>
                        <a14:foregroundMark x1="63436" y1="10811" x2="77533" y2="14414"/>
                        <a14:foregroundMark x1="83700" y1="26577" x2="92511" y2="59009"/>
                        <a14:foregroundMark x1="92511" y1="59009" x2="67892" y2="88196"/>
                        <a14:foregroundMark x1="36564" y1="9910" x2="50661" y2="9910"/>
                        <a14:foregroundMark x1="51101" y1="6306" x2="62555" y2="5856"/>
                        <a14:foregroundMark x1="49780" y1="5405" x2="50661" y2="4505"/>
                        <a14:foregroundMark x1="88546" y1="33784" x2="95595" y2="44595"/>
                        <a14:foregroundMark x1="94714" y1="50901" x2="94714" y2="50901"/>
                        <a14:foregroundMark x1="97357" y1="51802" x2="96476" y2="54505"/>
                        <a14:backgroundMark x1="2643" y1="84685" x2="10573" y2="99099"/>
                        <a14:backgroundMark x1="50661" y1="45946" x2="53304" y2="74775"/>
                        <a14:backgroundMark x1="73568" y1="27477" x2="73568" y2="27477"/>
                        <a14:backgroundMark x1="68722" y1="33784" x2="74890" y2="24775"/>
                        <a14:backgroundMark x1="72247" y1="23874" x2="70485" y2="23423"/>
                        <a14:backgroundMark x1="74009" y1="27027" x2="74009" y2="33784"/>
                        <a14:backgroundMark x1="72687" y1="23423" x2="68722" y2="24324"/>
                        <a14:backgroundMark x1="24229" y1="24775" x2="24229" y2="24775"/>
                        <a14:backgroundMark x1="25551" y1="22523" x2="25551" y2="22523"/>
                        <a14:backgroundMark x1="24229" y1="24324" x2="25110" y2="23423"/>
                        <a14:backgroundMark x1="23789" y1="80631" x2="26872" y2="84685"/>
                        <a14:backgroundMark x1="38326" y1="87387" x2="31278" y2="87387"/>
                        <a14:backgroundMark x1="22026" y1="77477" x2="22026" y2="77477"/>
                        <a14:backgroundMark x1="22467" y1="77477" x2="23348" y2="78378"/>
                        <a14:backgroundMark x1="43172" y1="98649" x2="40529" y2="98649"/>
                        <a14:backgroundMark x1="44053" y1="97297" x2="43172" y2="98198"/>
                        <a14:backgroundMark x1="44493" y1="92793" x2="42291" y2="99099"/>
                        <a14:backgroundMark x1="57269" y1="87387" x2="61233" y2="96396"/>
                        <a14:backgroundMark x1="24229" y1="22523" x2="24229" y2="22523"/>
                        <a14:backgroundMark x1="24229" y1="22072" x2="25551" y2="21622"/>
                        <a14:backgroundMark x1="27313" y1="21622" x2="26872" y2="21622"/>
                        <a14:backgroundMark x1="24229" y1="23874" x2="23348" y2="23874"/>
                        <a14:backgroundMark x1="23789" y1="23874" x2="23348" y2="23874"/>
                        <a14:backgroundMark x1="23789" y1="79279" x2="25110" y2="810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944" y="3572641"/>
            <a:ext cx="1081088" cy="102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laude Logo Vector Logo - Download Free SVG Icon | Worldvectorlogo">
            <a:extLst>
              <a:ext uri="{FF2B5EF4-FFF2-40B4-BE49-F238E27FC236}">
                <a16:creationId xmlns:a16="http://schemas.microsoft.com/office/drawing/2014/main" id="{BC937E65-5265-DE48-DA53-407CC717D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111" b="95556" l="0" r="98667">
                        <a14:foregroundMark x1="27556" y1="6222" x2="31111" y2="14222"/>
                        <a14:foregroundMark x1="60000" y1="5333" x2="60000" y2="5333"/>
                        <a14:foregroundMark x1="89778" y1="42667" x2="96000" y2="43556"/>
                        <a14:foregroundMark x1="92889" y1="61333" x2="98667" y2="62222"/>
                        <a14:foregroundMark x1="72889" y1="85333" x2="73778" y2="91111"/>
                        <a14:foregroundMark x1="50222" y1="87556" x2="48889" y2="95556"/>
                        <a14:foregroundMark x1="11111" y1="48889" x2="444" y2="47556"/>
                        <a14:foregroundMark x1="28444" y1="4000" x2="30222" y2="3111"/>
                        <a14:foregroundMark x1="58222" y1="2667" x2="58222" y2="2667"/>
                        <a14:foregroundMark x1="97778" y1="41778" x2="97778" y2="41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3638" y="3602421"/>
            <a:ext cx="611543" cy="61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D4A56FF5-DFF3-489E-EA85-4FD0086B0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3627" y="3435630"/>
            <a:ext cx="881718" cy="88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C1C148F-EEC6-F5B7-99BB-BF4B4AAD6B0B}"/>
              </a:ext>
            </a:extLst>
          </p:cNvPr>
          <p:cNvSpPr txBox="1"/>
          <p:nvPr/>
        </p:nvSpPr>
        <p:spPr>
          <a:xfrm>
            <a:off x="1656945" y="1919872"/>
            <a:ext cx="155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JAVA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ED98131-0808-D9F1-85C4-AC7219427DB2}"/>
              </a:ext>
            </a:extLst>
          </p:cNvPr>
          <p:cNvSpPr txBox="1"/>
          <p:nvPr/>
        </p:nvSpPr>
        <p:spPr>
          <a:xfrm>
            <a:off x="5380160" y="1919872"/>
            <a:ext cx="155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JAVA SWING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431DA7-EB9C-2FF9-16D0-D23B254CE322}"/>
              </a:ext>
            </a:extLst>
          </p:cNvPr>
          <p:cNvSpPr txBox="1"/>
          <p:nvPr/>
        </p:nvSpPr>
        <p:spPr>
          <a:xfrm>
            <a:off x="8978575" y="1919872"/>
            <a:ext cx="155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MONGODB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56E3E2-DF7C-F0FA-6051-24413F71CF0C}"/>
              </a:ext>
            </a:extLst>
          </p:cNvPr>
          <p:cNvSpPr txBox="1"/>
          <p:nvPr/>
        </p:nvSpPr>
        <p:spPr>
          <a:xfrm>
            <a:off x="1656349" y="4426210"/>
            <a:ext cx="155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ECCLIPSE IDE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9B7A98B-9A71-E7C3-F58B-A85E4D5E5602}"/>
              </a:ext>
            </a:extLst>
          </p:cNvPr>
          <p:cNvSpPr txBox="1"/>
          <p:nvPr/>
        </p:nvSpPr>
        <p:spPr>
          <a:xfrm>
            <a:off x="5229225" y="4426210"/>
            <a:ext cx="155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GITHUB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6DCA704-70B9-848E-1AA9-BFBBF68005EB}"/>
              </a:ext>
            </a:extLst>
          </p:cNvPr>
          <p:cNvSpPr txBox="1"/>
          <p:nvPr/>
        </p:nvSpPr>
        <p:spPr>
          <a:xfrm>
            <a:off x="8977929" y="4507268"/>
            <a:ext cx="155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IA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8B6D3FE-4EB0-B281-831B-0CBFB5AFB42A}"/>
              </a:ext>
            </a:extLst>
          </p:cNvPr>
          <p:cNvSpPr txBox="1"/>
          <p:nvPr/>
        </p:nvSpPr>
        <p:spPr>
          <a:xfrm>
            <a:off x="1167161" y="2396461"/>
            <a:ext cx="253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Lenguaje principal del proyecto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E73C886-A83A-80FE-AE0F-0AE2AF484EC4}"/>
              </a:ext>
            </a:extLst>
          </p:cNvPr>
          <p:cNvSpPr txBox="1"/>
          <p:nvPr/>
        </p:nvSpPr>
        <p:spPr>
          <a:xfrm>
            <a:off x="4890972" y="2396461"/>
            <a:ext cx="253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Librería para la interfaz gráfica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8219D26-A3BE-079A-4F2B-1A7AF6DAA082}"/>
              </a:ext>
            </a:extLst>
          </p:cNvPr>
          <p:cNvSpPr txBox="1"/>
          <p:nvPr/>
        </p:nvSpPr>
        <p:spPr>
          <a:xfrm>
            <a:off x="8451788" y="2330007"/>
            <a:ext cx="2534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Base de datos NoSQL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67B00C1-2278-D2CB-A666-B0C52254D6FA}"/>
              </a:ext>
            </a:extLst>
          </p:cNvPr>
          <p:cNvSpPr txBox="1"/>
          <p:nvPr/>
        </p:nvSpPr>
        <p:spPr>
          <a:xfrm>
            <a:off x="1167160" y="4795779"/>
            <a:ext cx="2534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Entorno de Desarrollo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391011F-F0E4-AAB8-81F7-1D23F7E4AB57}"/>
              </a:ext>
            </a:extLst>
          </p:cNvPr>
          <p:cNvSpPr txBox="1"/>
          <p:nvPr/>
        </p:nvSpPr>
        <p:spPr>
          <a:xfrm>
            <a:off x="4796186" y="4793507"/>
            <a:ext cx="2534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Control de versiones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C32F62F-F5A2-7BFE-3360-62D46E211DB2}"/>
              </a:ext>
            </a:extLst>
          </p:cNvPr>
          <p:cNvSpPr txBox="1"/>
          <p:nvPr/>
        </p:nvSpPr>
        <p:spPr>
          <a:xfrm>
            <a:off x="8451788" y="4839673"/>
            <a:ext cx="253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Apoyo en imágenes y en diseño</a:t>
            </a:r>
          </a:p>
        </p:txBody>
      </p:sp>
    </p:spTree>
    <p:extLst>
      <p:ext uri="{BB962C8B-B14F-4D97-AF65-F5344CB8AC3E}">
        <p14:creationId xmlns:p14="http://schemas.microsoft.com/office/powerpoint/2010/main" val="1333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437</Words>
  <Application>Microsoft Office PowerPoint</Application>
  <PresentationFormat>Panorámica</PresentationFormat>
  <Paragraphs>80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2</cp:revision>
  <dcterms:created xsi:type="dcterms:W3CDTF">2026-05-12T15:43:29Z</dcterms:created>
  <dcterms:modified xsi:type="dcterms:W3CDTF">2026-05-12T18:20:37Z</dcterms:modified>
</cp:coreProperties>
</file>